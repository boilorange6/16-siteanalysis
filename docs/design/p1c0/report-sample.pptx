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 · 출처와 기준일은 마지막 장 참조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사이트 분석 보고서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86868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서울특별시 강동구 고덕동 123 외 2필지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면적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3,480㎡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481578" y="169164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용도지역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81578" y="1947672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제2종일반주거지역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4476" y="169164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반경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94476" y="1947672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1km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07374" y="1691640"/>
            <a:ext cx="25214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분석일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07374" y="1947672"/>
            <a:ext cx="2521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2026-09-30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68680" y="26060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89320" y="2606040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60604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 · 6개 타일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68680" y="3108960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3383280"/>
            <a:ext cx="109728" cy="109728"/>
          </a:xfrm>
          <a:prstGeom prst="ellipse">
            <a:avLst/>
          </a:prstGeom>
          <a:solidFill>
            <a:srgbClr val="6A50D3"/>
          </a:solidFill>
          <a:ln w="12700">
            <a:solidFill>
              <a:srgbClr val="6A50D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3246120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입지·대중교통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 480m 직선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68680" y="3767328"/>
            <a:ext cx="109728" cy="109728"/>
          </a:xfrm>
          <a:prstGeom prst="ellipse">
            <a:avLst/>
          </a:prstGeom>
          <a:solidFill>
            <a:srgbClr val="E5A11C"/>
          </a:solidFill>
          <a:ln w="12700">
            <a:solidFill>
              <a:srgbClr val="E5A1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9848" y="3630168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학교·통학구역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기준 통학구역 안 학구도 기준일 2026-03-01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68680" y="4151376"/>
            <a:ext cx="109728" cy="109728"/>
          </a:xfrm>
          <a:prstGeom prst="ellipse">
            <a:avLst/>
          </a:prstGeom>
          <a:solidFill>
            <a:srgbClr val="8C6D5A"/>
          </a:solidFill>
          <a:ln w="12700">
            <a:solidFill>
              <a:srgbClr val="8C6D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9848" y="4014216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주거 공급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세대 4,120세대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535424"/>
            <a:ext cx="109728" cy="109728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398264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분양·입주예정 공급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분양공고 세대 820세대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4919472"/>
            <a:ext cx="109728" cy="109728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9848" y="4782312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실거래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거래건수(12개월) 214건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77356" y="3383280"/>
            <a:ext cx="109728" cy="109728"/>
          </a:xfrm>
          <a:prstGeom prst="ellipse">
            <a:avLst/>
          </a:prstGeom>
          <a:solidFill>
            <a:srgbClr val="D6478A"/>
          </a:solidFill>
          <a:ln w="12700">
            <a:solidFill>
              <a:srgbClr val="D647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78524" y="3246120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관련 사업 4곳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767328"/>
            <a:ext cx="109728" cy="1097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78524" y="3630168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토지·용도지역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상한 250%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7356" y="4151376"/>
            <a:ext cx="109728" cy="109728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8524" y="4014216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사용승인일 확인 건물 98%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7356" y="4535424"/>
            <a:ext cx="109728" cy="109728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8524" y="4398264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일조·그림자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단계에서 제공 · 결과 없음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919472"/>
            <a:ext cx="109728" cy="109728"/>
          </a:xfrm>
          <a:prstGeom prst="ellipse">
            <a:avLst/>
          </a:prstGeom>
          <a:solidFill>
            <a:srgbClr val="2B9CBF"/>
          </a:solidFill>
          <a:ln w="12700">
            <a:solidFill>
              <a:srgbClr val="2B9C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78524" y="4782312"/>
            <a:ext cx="48417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바람 흐름 탐색  </a:t>
            </a:r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실패 · 결과 없음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rail 2026-09-01 · bus_stops 2026-08-15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6A50D3"/>
          </a:solidFill>
          <a:ln w="12700">
            <a:solidFill>
              <a:srgbClr val="6A50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입지·대중교통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480m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6868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역 출입구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480m · 직선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운영역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버스정류장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210m · 직선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버스 정류장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41개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경유 버스 노선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최근접 역 출입구까지 직선 480m → 철도 접근은 가까운 편 → 실제 보행 경로 확인 필요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등급 좋음 · 내부 제안 기준: 철도 직선거리 500m 이하 좋음 · 1,000m 이하 보통 · 초과 주의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정류장별 경유 노선 연결 자료를 확보하지 못했습니다.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school 2026-04-01 · school_zone 2026-03-01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E5A11C"/>
          </a:solidFill>
          <a:ln w="12700">
            <a:solidFill>
              <a:srgbClr val="E5A1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학교·통학구역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 기준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통학구역 안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68680" y="2971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학구도 기준일 2026-03-01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최근접 초등학교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480m · 직선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초등학교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중학교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2개교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대지가 통학구역 안에 있음 → 연결 초등학교까지 직선 480m → 실제 배정은 교육청 확인 필요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거리 등급 좋음 · 내부 제안 기준: 연결 초등학교 직선거리 500m 이하 좋음 · 1,000m 이하 보통 · 초과 주의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배정은 교육청 확인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 · kapt 기준일 미확인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8C6D5A"/>
          </a:solidFill>
          <a:ln w="12700">
            <a:solidFill>
              <a:srgbClr val="8C6D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주거 공급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자료 불완전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76472" y="1371600"/>
            <a:ext cx="530352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1371600"/>
            <a:ext cx="530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추정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세대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4,120세대</a:t>
            </a:r>
            <a:endParaRPr lang="en-US" sz="4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 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4,120세대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아파트 단지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14개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준공연도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1,998년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30년 이상 건물 비중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38% · 추정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세대당 주차대수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미확인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아파트 14개 단지 4,120세대 확인 → 재고는 아파트 중심이며 오래된 건물이 상당수 → 세대수 미상 단지 확인 필요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K-APT에 없는 단지 3곳은 세대수를 알 수 없어 합계에서 제외했습니다.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30년 이상 비중은 분석 기준일 대비 경과연수로 추정한 값입니다.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applyhome 2026-09-15 · movein_plan 2026-09-01 · redevelopment 2026-08-20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분양·입주예정 공급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362456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362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자료만 집계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22576" y="1371600"/>
            <a:ext cx="183794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22576" y="1371600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가능 · 합계 보류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분양공고 세대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820세대</a:t>
            </a:r>
            <a:endParaRPr lang="en-US" sz="4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분양공고 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820세대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입주예정 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1,100세대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정비사업 예정세대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540세대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원천별 예정 물량이 각각 확인됨 → 같은 사업이 겹쳐 잡혔을 수 있어 합계는 내지 않음 → 사업별 연결 확인 필요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청약홈·입주예정·정비사업에 같은 사업이 중복 등장할 수 있어 합계를 보류했습니다. 중복 제거는 다음 단계입니다.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molit_rtms 2026-09-20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2F6FDB"/>
          </a:solidFill>
          <a:ln w="12700">
            <a:solidFill>
              <a:srgbClr val="2F6F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매매 실거래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비공개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거래건수(12개월)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214건</a:t>
            </a:r>
            <a:endParaRPr lang="en-US" sz="4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유효 거래건수(12개월)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214건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㎡당 가격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1,320 만원/㎡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전기 대비 중앙값 변화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3.4%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소형 면적대 중앙값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비공개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최근 12개월 관측 거래 214건 → 단가 중앙값이 전기보다 3.4% 상승 → 거래 구성 변화와 표본 확인 필요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68680" y="4937760"/>
            <a:ext cx="10451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표본이 5건 미만인 구간은 비공개로 처리했습니다.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redevelopment 2026-08-20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A09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D6478A"/>
          </a:solidFill>
          <a:ln w="12700">
            <a:solidFill>
              <a:srgbClr val="D647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정비사업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관련 사업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4곳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관련 사업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철거 착수 사업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0곳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구역지정 단계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2곳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관련 사업 예정세대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1,650세대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반경 안 관련 사업 4곳, 철거 착수는 0곳 → 대부분 초기 단계 → 경계 미확인 사업 추가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landuse 2026-07-01 · land_price 2026-01-01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토지·용도지역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용적률 상한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250%</a:t>
            </a:r>
            <a:endParaRPr lang="en-US" sz="4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4920" y="1874520"/>
          <a:ext cx="6245352" cy="914400"/>
        </p:xfrm>
        <a:graphic>
          <a:graphicData uri="http://schemas.openxmlformats.org/drawingml/2006/table">
            <a:tbl>
              <a:tblPr/>
              <a:tblGrid>
                <a:gridCol w="3434944"/>
                <a:gridCol w="2810408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용적률 상한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250%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공시지가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2,410 만원/㎡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반경 내 3종일반·상업 비중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인접 구역에 3종일반·상업 → 용도가 섞인 지역 → 지구단위계획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D04 · 도판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사용승인일 확인 건물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98%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1254191" cy="502920"/>
          </a:xfrm>
          <a:prstGeom prst="rect">
            <a:avLst/>
          </a:prstGeom>
          <a:solidFill>
            <a:srgbClr val="8C5A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2871" y="3154680"/>
            <a:ext cx="2508382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1253" y="3154680"/>
            <a:ext cx="3239994" cy="502920"/>
          </a:xfrm>
          <a:prstGeom prst="rect">
            <a:avLst/>
          </a:prstGeom>
          <a:solidFill>
            <a:srgbClr val="C77B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1247" y="3154680"/>
            <a:ext cx="1881287" cy="502920"/>
          </a:xfrm>
          <a:prstGeom prst="rect">
            <a:avLst/>
          </a:prstGeom>
          <a:solidFill>
            <a:srgbClr val="D9A06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533" y="3154680"/>
            <a:ext cx="940643" cy="502920"/>
          </a:xfrm>
          <a:prstGeom prst="rect">
            <a:avLst/>
          </a:prstGeom>
          <a:solidFill>
            <a:srgbClr val="E8C39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3176" y="3154680"/>
            <a:ext cx="418064" cy="502920"/>
          </a:xfrm>
          <a:prstGeom prst="rect">
            <a:avLst/>
          </a:prstGeom>
          <a:solidFill>
            <a:srgbClr val="F1DCC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111240" y="3154680"/>
            <a:ext cx="209032" cy="502920"/>
          </a:xfrm>
          <a:prstGeom prst="rect">
            <a:avLst/>
          </a:prstGeom>
          <a:solidFill>
            <a:srgbClr val="C9CC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3858768"/>
            <a:ext cx="128016" cy="128016"/>
          </a:xfrm>
          <a:prstGeom prst="rect">
            <a:avLst/>
          </a:prstGeom>
          <a:solidFill>
            <a:srgbClr val="8C5A3C"/>
          </a:solidFill>
          <a:ln w="12700">
            <a:solidFill>
              <a:srgbClr val="8C5A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9848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1979년 이하  12%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81578" y="3858768"/>
            <a:ext cx="128016" cy="128016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2746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1980년대  24%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94476" y="3858768"/>
            <a:ext cx="128016" cy="128016"/>
          </a:xfrm>
          <a:prstGeom prst="rect">
            <a:avLst/>
          </a:prstGeom>
          <a:solidFill>
            <a:srgbClr val="C77B4A"/>
          </a:solidFill>
          <a:ln w="12700">
            <a:solidFill>
              <a:srgbClr val="C77B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5644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1990년대  31%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707374" y="3858768"/>
            <a:ext cx="128016" cy="128016"/>
          </a:xfrm>
          <a:prstGeom prst="rect">
            <a:avLst/>
          </a:prstGeom>
          <a:solidFill>
            <a:srgbClr val="D9A06B"/>
          </a:solidFill>
          <a:ln w="12700">
            <a:solidFill>
              <a:srgbClr val="D9A0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08542" y="3776472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2000년대  18%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4151376"/>
            <a:ext cx="128016" cy="128016"/>
          </a:xfrm>
          <a:prstGeom prst="rect">
            <a:avLst/>
          </a:prstGeom>
          <a:solidFill>
            <a:srgbClr val="E8C39A"/>
          </a:solidFill>
          <a:ln w="12700">
            <a:solidFill>
              <a:srgbClr val="E8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9848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2010년대  9%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81578" y="4151376"/>
            <a:ext cx="128016" cy="128016"/>
          </a:xfrm>
          <a:prstGeom prst="rect">
            <a:avLst/>
          </a:prstGeom>
          <a:solidFill>
            <a:srgbClr val="F1DCC0"/>
          </a:solidFill>
          <a:ln w="12700">
            <a:solidFill>
              <a:srgbClr val="F1DC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82746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2020년 이상  4%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94476" y="4151376"/>
            <a:ext cx="128016" cy="128016"/>
          </a:xfrm>
          <a:prstGeom prst="rect">
            <a:avLst/>
          </a:prstGeom>
          <a:solidFill>
            <a:srgbClr val="C9CCD3"/>
          </a:solidFill>
          <a:ln w="12700">
            <a:solidFill>
              <a:srgbClr val="C9CCD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5644" y="4069080"/>
            <a:ext cx="23385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미상  2%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건물 중 1990년대 이전 준공이 67% → 노후 건물이 넓게 분포 → 재건축 요건은 별도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gis_bldg 2026-08-01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D04 · 구성비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준공 연대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828800"/>
          <a:ext cx="10451592" cy="914400"/>
        </p:xfrm>
        <a:graphic>
          <a:graphicData uri="http://schemas.openxmlformats.org/drawingml/2006/table">
            <a:tbl>
              <a:tblPr/>
              <a:tblGrid>
                <a:gridCol w="5748376"/>
                <a:gridCol w="4703216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사용승인일 확인 건물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1979년 이하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1980년대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24%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1990년대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31%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2000년대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18%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2010년대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9%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2020년 이상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4%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미상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2%</a:t>
                      </a:r>
                      <a:endParaRPr lang="en-US" sz="12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68680" y="43434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건물 중 1990년대 이전 준공이 67% → 노후 건물이 넓게 분포 → 재건축 요건은 별도 확인 필요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없음 · 기준일 해당 없음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일조·그림자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단계에서 제공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41448" y="137160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미확보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38728" y="1371600"/>
            <a:ext cx="2313432" cy="292608"/>
          </a:xfrm>
          <a:prstGeom prst="roundRect">
            <a:avLst>
              <a:gd name="adj" fmla="val 50000"/>
            </a:avLst>
          </a:prstGeom>
          <a:solidFill>
            <a:srgbClr val="E6E1F7"/>
          </a:solidFill>
          <a:ln w="12700">
            <a:solidFill>
              <a:srgbClr val="E6E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1371600"/>
            <a:ext cx="2313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E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그림자 추정 · 법적 판정 아님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19456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단계에서는 제공하지 않습니다 — 다음 단계에서 제공 예정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타일의 수치는 만들지 않았습니다. 조건을 바꾸거나 다시 계산한 뒤 보고서를 만들 수 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건물·지형 모델에 의한 기하학적 일조 추정입니다. 구름·실제 기상·창면 조건 및 법적 일조 판정을 포함하지 않습니다.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일조 계산은 3D 시뮬레이션 단계에서 제공합니다.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 없음 · 기준일 해당 없음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2B9CBF"/>
          </a:solidFill>
          <a:ln w="12700">
            <a:solidFill>
              <a:srgbClr val="2B9C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바람 흐름 탐색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868680" y="1371600"/>
            <a:ext cx="886968" cy="292608"/>
          </a:xfrm>
          <a:prstGeom prst="roundRect">
            <a:avLst>
              <a:gd name="adj" fmla="val 50000"/>
            </a:avLst>
          </a:prstGeom>
          <a:solidFill>
            <a:srgbClr val="FCE9C7"/>
          </a:solidFill>
          <a:ln w="12700">
            <a:solidFill>
              <a:srgbClr val="FCE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371600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4B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실패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47088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F0E8DC"/>
          </a:solidFill>
          <a:ln w="12700">
            <a:solidFill>
              <a:srgbClr val="F0E8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47088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4A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미확인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87752" y="1371600"/>
            <a:ext cx="649224" cy="292608"/>
          </a:xfrm>
          <a:prstGeom prst="roundRect">
            <a:avLst>
              <a:gd name="adj" fmla="val 50000"/>
            </a:avLst>
          </a:prstGeom>
          <a:solidFill>
            <a:srgbClr val="E6E1F7"/>
          </a:solidFill>
          <a:ln w="12700">
            <a:solidFill>
              <a:srgbClr val="E6E1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371600"/>
            <a:ext cx="649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D2E8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68680" y="219456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실패 — 보고서에는 결과 없이 표시합니다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68680" y="3017520"/>
            <a:ext cx="10451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타일의 수치는 만들지 않았습니다. 조건을 바꾸거나 다시 계산한 뒤 보고서를 만들 수 있습니다.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" y="4114800"/>
            <a:ext cx="104515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브라우저 탐색용 바람 모형입니다. 보행 안전·구조설계·인허가·검증된 CFD 결과로 사용할 수 없습니다.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계산 영역 생성에 실패했습니다.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0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1274552" cy="621792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" y="5870448"/>
            <a:ext cx="10451592" cy="0"/>
          </a:xfrm>
          <a:prstGeom prst="line">
            <a:avLst/>
          </a:prstGeom>
          <a:noFill/>
          <a:ln w="9525">
            <a:solidFill>
              <a:srgbClr val="E2E4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5925312"/>
            <a:ext cx="9354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기준일 2026-01-01 ~ 2026-09-20 · 출처 12건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314432" y="5925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68680" y="5486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76C7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68680" y="932688"/>
            <a:ext cx="182880" cy="182880"/>
          </a:xfrm>
          <a:prstGeom prst="ellipse">
            <a:avLst/>
          </a:prstGeom>
          <a:solidFill>
            <a:srgbClr val="7A7E87"/>
          </a:solidFill>
          <a:ln w="12700">
            <a:solidFill>
              <a:srgbClr val="7A7E8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822960"/>
            <a:ext cx="10085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8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자료 출처와 기준일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463040"/>
          <a:ext cx="10451592" cy="914400"/>
        </p:xfrm>
        <a:graphic>
          <a:graphicData uri="http://schemas.openxmlformats.org/drawingml/2006/table">
            <a:tbl>
              <a:tblPr/>
              <a:tblGrid>
                <a:gridCol w="2612898"/>
                <a:gridCol w="2090318"/>
                <a:gridCol w="5748376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출처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76C76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사용한 타일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rail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입지·대중교통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bus_stops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2026-08-15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입지·대중교통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school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2026-04-01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학교·통학구역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school_zone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2026-03-01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학교·통학구역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gis_bldg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주거 공급, 준공 연대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kapt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기준일 미확인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기존 주거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applyhome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2026-09-15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movein_plan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redevelopment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2026-08-20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분양·입주예정 공급, 정비사업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molit_rtms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2026-09-20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매매 실거래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landuse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2026-07-01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토지·용도지역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land_price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2026-01-01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6181D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토지·용도지역</a:t>
                      </a:r>
                      <a:endParaRPr lang="en-US" sz="11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45720" marR="45720" marT="0" marB="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2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사이트 분석 보고서</dc:title>
  <dc:subject>PptxGenJS Presentation</dc:subject>
  <dc:creator>PptxGenJS</dc:creator>
  <cp:lastModifiedBy>PptxGenJS</cp:lastModifiedBy>
  <cp:revision>1</cp:revision>
  <dcterms:created xsi:type="dcterms:W3CDTF">2026-09-30T02:48:25Z</dcterms:created>
  <dcterms:modified xsi:type="dcterms:W3CDTF">2026-09-30T02:48:25Z</dcterms:modified>
</cp:coreProperties>
</file>