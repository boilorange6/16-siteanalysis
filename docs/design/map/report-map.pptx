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기준일 2026-01-01 ~ 2026-09-20 · 출처와 기준일은 마지막 장 참조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사이트 분석 보고서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868680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서울특별시 강동구 고덕동 123 외 2필지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대지 면적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9476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3,480㎡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16916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용도지역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19476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제2종일반주거지역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25603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반경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8163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1km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25603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28163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2026-09-30</a:t>
            </a:r>
            <a:endParaRPr lang="en-US" sz="18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1152" y="1645920"/>
            <a:ext cx="4389120" cy="2743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68680" y="3520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기준일 2026-01-01 ~ 2026-09-20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68680" y="3904488"/>
            <a:ext cx="2313432" cy="292608"/>
          </a:xfrm>
          <a:prstGeom prst="roundRect">
            <a:avLst>
              <a:gd name="adj" fmla="val 50000"/>
            </a:avLst>
          </a:prstGeom>
          <a:solidFill>
            <a:srgbClr val="FCE9C7"/>
          </a:solidFill>
          <a:ln w="12700">
            <a:solidFill>
              <a:srgbClr val="FCE9C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3904488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4B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자료 불완전 · 7개 타일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68680" y="4526280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4727448"/>
            <a:ext cx="109728" cy="109728"/>
          </a:xfrm>
          <a:prstGeom prst="ellipse">
            <a:avLst/>
          </a:prstGeom>
          <a:solidFill>
            <a:srgbClr val="6A50D3"/>
          </a:solidFill>
          <a:ln w="12700">
            <a:solidFill>
              <a:srgbClr val="6A50D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9848" y="4663440"/>
            <a:ext cx="4841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입지·대중교통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최근접 역 출입구 480m 직선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68680" y="4965192"/>
            <a:ext cx="109728" cy="109728"/>
          </a:xfrm>
          <a:prstGeom prst="ellipse">
            <a:avLst/>
          </a:prstGeom>
          <a:solidFill>
            <a:srgbClr val="E5A11C"/>
          </a:solidFill>
          <a:ln w="12700">
            <a:solidFill>
              <a:srgbClr val="E5A11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9848" y="4901184"/>
            <a:ext cx="4841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학교·통학구역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대지 기준 통학구역 안 학구도 기준일 2026-03-01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68680" y="5202936"/>
            <a:ext cx="109728" cy="109728"/>
          </a:xfrm>
          <a:prstGeom prst="ellipse">
            <a:avLst/>
          </a:prstGeom>
          <a:solidFill>
            <a:srgbClr val="3F9E6B"/>
          </a:solidFill>
          <a:ln w="12700">
            <a:solidFill>
              <a:srgbClr val="3F9E6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9848" y="5138928"/>
            <a:ext cx="4841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생활편의·상가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기초 생활시설 확인 군(4군 중) 4군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68680" y="5440680"/>
            <a:ext cx="109728" cy="109728"/>
          </a:xfrm>
          <a:prstGeom prst="ellipse">
            <a:avLst/>
          </a:prstGeom>
          <a:solidFill>
            <a:srgbClr val="5C9A3C"/>
          </a:solidFill>
          <a:ln w="12700">
            <a:solidFill>
              <a:srgbClr val="5C9A3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69848" y="5376672"/>
            <a:ext cx="4841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공원·녹지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반경 내 공원 5곳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68680" y="5678424"/>
            <a:ext cx="109728" cy="109728"/>
          </a:xfrm>
          <a:prstGeom prst="ellipse">
            <a:avLst/>
          </a:prstGeom>
          <a:solidFill>
            <a:srgbClr val="8C6D5A"/>
          </a:solidFill>
          <a:ln w="12700">
            <a:solidFill>
              <a:srgbClr val="8C6D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69848" y="5614416"/>
            <a:ext cx="4841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주거 공급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세대 4,120세대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77356" y="4727448"/>
            <a:ext cx="109728" cy="109728"/>
          </a:xfrm>
          <a:prstGeom prst="ellipse">
            <a:avLst/>
          </a:prstGeom>
          <a:solidFill>
            <a:srgbClr val="7A7E87"/>
          </a:solidFill>
          <a:ln w="12700">
            <a:solidFill>
              <a:srgbClr val="7A7E8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78524" y="4663440"/>
            <a:ext cx="4841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분양·입주예정 공급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분양공고 세대 820세대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277356" y="4965192"/>
            <a:ext cx="109728" cy="109728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78524" y="4901184"/>
            <a:ext cx="4841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매매 실거래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유효 거래건수(12개월) 214건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277356" y="5202936"/>
            <a:ext cx="109728" cy="109728"/>
          </a:xfrm>
          <a:prstGeom prst="ellipse">
            <a:avLst/>
          </a:prstGeom>
          <a:solidFill>
            <a:srgbClr val="D6478A"/>
          </a:solidFill>
          <a:ln w="12700">
            <a:solidFill>
              <a:srgbClr val="D6478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78524" y="5138928"/>
            <a:ext cx="4841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정비사업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반경 관련 사업 4곳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277356" y="5440680"/>
            <a:ext cx="109728" cy="1097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78524" y="5376672"/>
            <a:ext cx="4841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토지·용도지역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용적률 상한 250%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277356" y="5678424"/>
            <a:ext cx="109728" cy="109728"/>
          </a:xfrm>
          <a:prstGeom prst="ellipse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78524" y="5614416"/>
            <a:ext cx="4841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준공 연대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사용승인일 확인 건물 98%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rail 2026-09-01 · bus_stops 2026-08-15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6A50D3"/>
          </a:solidFill>
          <a:ln w="12700">
            <a:solidFill>
              <a:srgbClr val="6A50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입지·대중교통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1371600"/>
            <a:ext cx="649224" cy="292608"/>
          </a:xfrm>
          <a:prstGeom prst="roundRect">
            <a:avLst>
              <a:gd name="adj" fmla="val 50000"/>
            </a:avLst>
          </a:prstGeom>
          <a:solidFill>
            <a:srgbClr val="F0E8DC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71600"/>
            <a:ext cx="649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A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미확인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6035040" cy="37719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32320" y="178308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최근접 역 출입구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132320" y="2057400"/>
            <a:ext cx="4187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480m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7132320" y="2788920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직선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3108960"/>
          <a:ext cx="4187952" cy="914400"/>
        </p:xfrm>
        <a:graphic>
          <a:graphicData uri="http://schemas.openxmlformats.org/drawingml/2006/table">
            <a:tbl>
              <a:tblPr/>
              <a:tblGrid>
                <a:gridCol w="2303374"/>
                <a:gridCol w="1884578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반경 내 운영역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3개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최근접 버스정류장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210m · 직선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버스 정류장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41개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경유 버스 노선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미확인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7132320" y="4572000"/>
            <a:ext cx="4187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최근접 역 출입구까지 직선 480m → 철도 접근은 가까운 편 → 실제 보행 경로 확인 필요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132320" y="5285232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거리 등급 좋음 · 내부 제안 기준: 철도 직선거리 500m 이하 좋음 · 1,000m 이하 보통 · 초과 주의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정류장별 경유 노선 연결 자료를 확보하지 못했습니다.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school 2026-04-01 · school_zone 2026-03-01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E5A11C"/>
          </a:solidFill>
          <a:ln w="12700">
            <a:solidFill>
              <a:srgbClr val="E5A1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학교·통학구역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대지 기준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통학구역 안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학구도 기준일 2026-03-01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874520"/>
          <a:ext cx="6245352" cy="914400"/>
        </p:xfrm>
        <a:graphic>
          <a:graphicData uri="http://schemas.openxmlformats.org/drawingml/2006/table">
            <a:tbl>
              <a:tblPr/>
              <a:tblGrid>
                <a:gridCol w="3434944"/>
                <a:gridCol w="2810408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최근접 초등학교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480m · 직선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반경 내 초등학교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2개교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반경 내 중학교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2개교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868680" y="43434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대지가 통학구역 안에 있음 → 연결 초등학교까지 직선 480m → 실제 배정은 교육청 확인 필요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" y="493776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거리 등급 좋음 · 내부 제안 기준: 연결 초등학교 직선거리 500m 이하 좋음 · 1,000m 이하 보통 · 초과 주의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배정은 교육청 확인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소상공인 상가정보 2026-06-30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3F9E6B"/>
          </a:solidFill>
          <a:ln w="12700">
            <a:solidFill>
              <a:srgbClr val="3F9E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생활편의·상가</a:t>
            </a:r>
            <a:endParaRPr lang="en-US" sz="2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6035040" cy="37719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0" y="178308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기초 생활시설 확인 군(4군 중)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132320" y="2057400"/>
            <a:ext cx="4187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4군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3108960"/>
          <a:ext cx="4187952" cy="914400"/>
        </p:xfrm>
        <a:graphic>
          <a:graphicData uri="http://schemas.openxmlformats.org/drawingml/2006/table">
            <a:tbl>
              <a:tblPr/>
              <a:tblGrid>
                <a:gridCol w="2303374"/>
                <a:gridCol w="1884578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반경 내 상가 전체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214개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최근접 식료품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130m · 직선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최근접 약국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260m · 직선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상가 밀도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68.1 개/㎢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7132320" y="4572000"/>
            <a:ext cx="4187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기초 생활시설 4군 중 4군 확인 → 반경 안에서 일상 시설 접근 가능 → 업소 214개의 영업 여부는 현장 확인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전국 도시공원 2026-05-31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5C9A3C"/>
          </a:solidFill>
          <a:ln w="12700">
            <a:solidFill>
              <a:srgbClr val="5C9A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공원·녹지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1371600"/>
            <a:ext cx="1362456" cy="292608"/>
          </a:xfrm>
          <a:prstGeom prst="roundRect">
            <a:avLst>
              <a:gd name="adj" fmla="val 50000"/>
            </a:avLst>
          </a:prstGeom>
          <a:solidFill>
            <a:srgbClr val="FCE9C7"/>
          </a:solidFill>
          <a:ln w="12700">
            <a:solidFill>
              <a:srgbClr val="FCE9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7160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4B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일부 자료만 집계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22576" y="13716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0E8DC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22576" y="1371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A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미확보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6035040" cy="37719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132320" y="178308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반경 내 공원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32320" y="2057400"/>
            <a:ext cx="4187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5곳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3108960"/>
          <a:ext cx="4187952" cy="914400"/>
        </p:xfrm>
        <a:graphic>
          <a:graphicData uri="http://schemas.openxmlformats.org/drawingml/2006/table">
            <a:tbl>
              <a:tblPr/>
              <a:tblGrid>
                <a:gridCol w="2303374"/>
                <a:gridCol w="1884578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공원 대표점까지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320m · 직선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반경 내 공원 원천 면적 합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128,400㎡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반경 안에 든 공원 면적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미확인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7132320" y="4572000"/>
            <a:ext cx="4187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공원 5곳 확인, 대표점까지 직선 320m → 입구가 아닌 대표점 기준의 거리임 → 실제 입구와 경계 확인 필요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132320" y="5285232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공원 경계·입구 자료 미적재 — 반경 안 면적과 입구 거리는 계산하지 못했습니다.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gis_bldg 2026-08-01 · kapt 기준일 미확인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8C6D5A"/>
          </a:solidFill>
          <a:ln w="12700">
            <a:solidFill>
              <a:srgbClr val="8C6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주거 공급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1371600"/>
            <a:ext cx="1362456" cy="292608"/>
          </a:xfrm>
          <a:prstGeom prst="roundRect">
            <a:avLst>
              <a:gd name="adj" fmla="val 50000"/>
            </a:avLst>
          </a:prstGeom>
          <a:solidFill>
            <a:srgbClr val="FCE9C7"/>
          </a:solidFill>
          <a:ln w="12700">
            <a:solidFill>
              <a:srgbClr val="FCE9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7160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4B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일부 자료만 집계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22576" y="1371600"/>
            <a:ext cx="1362456" cy="292608"/>
          </a:xfrm>
          <a:prstGeom prst="roundRect">
            <a:avLst>
              <a:gd name="adj" fmla="val 50000"/>
            </a:avLst>
          </a:prstGeom>
          <a:solidFill>
            <a:srgbClr val="F0E8DC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22576" y="137160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A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자료 불완전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76472" y="1371600"/>
            <a:ext cx="530352" cy="292608"/>
          </a:xfrm>
          <a:prstGeom prst="roundRect">
            <a:avLst>
              <a:gd name="adj" fmla="val 50000"/>
            </a:avLst>
          </a:prstGeom>
          <a:solidFill>
            <a:srgbClr val="F0E8DC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6472" y="1371600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A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추정</a:t>
            </a:r>
            <a:endParaRPr lang="en-US" sz="10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6035040" cy="37719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132320" y="178308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세대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132320" y="2057400"/>
            <a:ext cx="4187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4,120세대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3108960"/>
          <a:ext cx="4187952" cy="914400"/>
        </p:xfrm>
        <a:graphic>
          <a:graphicData uri="http://schemas.openxmlformats.org/drawingml/2006/table">
            <a:tbl>
              <a:tblPr/>
              <a:tblGrid>
                <a:gridCol w="2303374"/>
                <a:gridCol w="1884578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아파트 단지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14개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준공연도 중앙값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1998년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30년 이상 건물 비중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38% · 추정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세대당 주차대수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미확인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7132320" y="4572000"/>
            <a:ext cx="4187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아파트 14개 단지 4,120세대 확인 → 재고는 아파트 중심이며 오래된 건물이 상당수 → 세대수 미상 단지 확인 필요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132320" y="5285232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K-APT에 없는 단지 3곳은 세대수를 알 수 없어 합계에서 제외했습니다.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30년 이상 비중은 분석 기준일 대비 경과연수로 추정한 값입니다.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청약홈 2026-09-15 · movein_plan 2026-09-01 · redevelopment 2026-08-20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7A7E87"/>
          </a:solidFill>
          <a:ln w="12700">
            <a:solidFill>
              <a:srgbClr val="7A7E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분양·입주예정 공급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1371600"/>
            <a:ext cx="1362456" cy="292608"/>
          </a:xfrm>
          <a:prstGeom prst="roundRect">
            <a:avLst>
              <a:gd name="adj" fmla="val 50000"/>
            </a:avLst>
          </a:prstGeom>
          <a:solidFill>
            <a:srgbClr val="F0E8DC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7160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A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일부 자료만 집계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22576" y="1371600"/>
            <a:ext cx="1837944" cy="292608"/>
          </a:xfrm>
          <a:prstGeom prst="roundRect">
            <a:avLst>
              <a:gd name="adj" fmla="val 50000"/>
            </a:avLst>
          </a:prstGeom>
          <a:solidFill>
            <a:srgbClr val="F0E8DC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22576" y="1371600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A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가능 · 합계 보류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6035040" cy="37719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132320" y="178308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분양공고 세대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32320" y="2057400"/>
            <a:ext cx="4187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820세대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3108960"/>
          <a:ext cx="4187952" cy="914400"/>
        </p:xfrm>
        <a:graphic>
          <a:graphicData uri="http://schemas.openxmlformats.org/drawingml/2006/table">
            <a:tbl>
              <a:tblPr/>
              <a:tblGrid>
                <a:gridCol w="2303374"/>
                <a:gridCol w="1884578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입주예정 세대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1,100세대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정비사업 예정세대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540세대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7132320" y="4572000"/>
            <a:ext cx="4187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원천별 예정 물량이 각각 확인됨 → 같은 사업이 겹쳐 잡혔을 수 있어 합계는 내지 않음 → 사업별 연결 확인 필요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132320" y="5285232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청약홈·입주예정·정비사업에 같은 사업이 중복 등장할 수 있어 합계를 보류했습니다. 중복 제거는 다음 단계입니다.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molit_rtms 2026-09-20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매매 실거래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1371600"/>
            <a:ext cx="649224" cy="292608"/>
          </a:xfrm>
          <a:prstGeom prst="roundRect">
            <a:avLst>
              <a:gd name="adj" fmla="val 50000"/>
            </a:avLst>
          </a:prstGeom>
          <a:solidFill>
            <a:srgbClr val="F0E8DC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71600"/>
            <a:ext cx="649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A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유효 거래건수(12개월)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148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214건</a:t>
            </a:r>
            <a:endParaRPr lang="en-US" sz="4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874520"/>
          <a:ext cx="6245352" cy="914400"/>
        </p:xfrm>
        <a:graphic>
          <a:graphicData uri="http://schemas.openxmlformats.org/drawingml/2006/table">
            <a:tbl>
              <a:tblPr/>
              <a:tblGrid>
                <a:gridCol w="3434944"/>
                <a:gridCol w="2810408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유효 거래건수(12개월)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214건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㎡당 가격 중앙값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1,320 만원/㎡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전기 대비 중앙값 변화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3.4%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소형 면적대 중앙값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비공개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868680" y="43434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12개월 관측 거래 214건 → 단가 중앙값이 전기보다 3.4% 상승 → 거래 구성 변화와 표본 확인 필요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493776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표본이 5건 미만인 구간은 비공개로 처리했습니다.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redevelopment 2026-08-20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D6478A"/>
          </a:solidFill>
          <a:ln w="12700">
            <a:solidFill>
              <a:srgbClr val="D647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정비사업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반경 관련 사업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4곳</a:t>
            </a:r>
            <a:endParaRPr lang="en-US" sz="4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874520"/>
          <a:ext cx="6245352" cy="914400"/>
        </p:xfrm>
        <a:graphic>
          <a:graphicData uri="http://schemas.openxmlformats.org/drawingml/2006/table">
            <a:tbl>
              <a:tblPr/>
              <a:tblGrid>
                <a:gridCol w="3434944"/>
                <a:gridCol w="2810408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반경 관련 사업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4곳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철거 착수 사업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0곳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구역지정 단계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2곳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관련 사업 예정세대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1,650세대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68680" y="43434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반경 안 관련 사업 4곳, 철거 착수는 0곳 → 대부분 초기 단계 → 경계 미확인 사업 추가 확인 필요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landuse 2026-07-01 · land_price 2026-01-01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토지·용도지역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용적률 상한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250%</a:t>
            </a:r>
            <a:endParaRPr lang="en-US" sz="4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874520"/>
          <a:ext cx="6245352" cy="914400"/>
        </p:xfrm>
        <a:graphic>
          <a:graphicData uri="http://schemas.openxmlformats.org/drawingml/2006/table">
            <a:tbl>
              <a:tblPr/>
              <a:tblGrid>
                <a:gridCol w="3434944"/>
                <a:gridCol w="2810408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용적률 상한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공시지가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2,410 만원/㎡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반경 내 3종일반·상업 비중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31%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68680" y="43434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인접 구역에 3종일반·상업 → 용도가 섞인 지역 → 지구단위계획 확인 필요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gis_bldg 2026-08-01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D04 · 도판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준공 연대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사용승인일 확인 건물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98%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868680" y="3154680"/>
            <a:ext cx="1254191" cy="502920"/>
          </a:xfrm>
          <a:prstGeom prst="rect">
            <a:avLst/>
          </a:prstGeom>
          <a:solidFill>
            <a:srgbClr val="8C5A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22871" y="3154680"/>
            <a:ext cx="2508382" cy="502920"/>
          </a:xfrm>
          <a:prstGeom prst="rect">
            <a:avLst/>
          </a:prstGeom>
          <a:solidFill>
            <a:srgbClr val="A052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1253" y="3154680"/>
            <a:ext cx="3239994" cy="502920"/>
          </a:xfrm>
          <a:prstGeom prst="rect">
            <a:avLst/>
          </a:prstGeom>
          <a:solidFill>
            <a:srgbClr val="C77B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71247" y="3154680"/>
            <a:ext cx="1881287" cy="502920"/>
          </a:xfrm>
          <a:prstGeom prst="rect">
            <a:avLst/>
          </a:prstGeom>
          <a:solidFill>
            <a:srgbClr val="D9A0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52533" y="3154680"/>
            <a:ext cx="940643" cy="502920"/>
          </a:xfrm>
          <a:prstGeom prst="rect">
            <a:avLst/>
          </a:prstGeom>
          <a:solidFill>
            <a:srgbClr val="E8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93176" y="3154680"/>
            <a:ext cx="418064" cy="502920"/>
          </a:xfrm>
          <a:prstGeom prst="rect">
            <a:avLst/>
          </a:prstGeom>
          <a:solidFill>
            <a:srgbClr val="F1DC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11240" y="3154680"/>
            <a:ext cx="209032" cy="502920"/>
          </a:xfrm>
          <a:prstGeom prst="rect">
            <a:avLst/>
          </a:prstGeom>
          <a:solidFill>
            <a:srgbClr val="C9CC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858768"/>
            <a:ext cx="128016" cy="128016"/>
          </a:xfrm>
          <a:prstGeom prst="rect">
            <a:avLst/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3776472"/>
            <a:ext cx="2338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1979년 이하  12%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81578" y="3858768"/>
            <a:ext cx="128016" cy="128016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2746" y="3776472"/>
            <a:ext cx="2338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1980년대  24%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94476" y="3858768"/>
            <a:ext cx="128016" cy="128016"/>
          </a:xfrm>
          <a:prstGeom prst="rect">
            <a:avLst/>
          </a:prstGeom>
          <a:solidFill>
            <a:srgbClr val="C77B4A"/>
          </a:solidFill>
          <a:ln w="12700">
            <a:solidFill>
              <a:srgbClr val="C77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5644" y="3776472"/>
            <a:ext cx="2338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1990년대  31%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07374" y="3858768"/>
            <a:ext cx="128016" cy="128016"/>
          </a:xfrm>
          <a:prstGeom prst="rect">
            <a:avLst/>
          </a:prstGeom>
          <a:solidFill>
            <a:srgbClr val="D9A06B"/>
          </a:solidFill>
          <a:ln w="12700">
            <a:solidFill>
              <a:srgbClr val="D9A0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08542" y="3776472"/>
            <a:ext cx="2338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2000년대  18%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68680" y="4151376"/>
            <a:ext cx="128016" cy="128016"/>
          </a:xfrm>
          <a:prstGeom prst="rect">
            <a:avLst/>
          </a:prstGeom>
          <a:solidFill>
            <a:srgbClr val="E8C39A"/>
          </a:solidFill>
          <a:ln w="12700">
            <a:solidFill>
              <a:srgbClr val="E8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9848" y="4069080"/>
            <a:ext cx="2338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2010년대  9%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81578" y="4151376"/>
            <a:ext cx="128016" cy="128016"/>
          </a:xfrm>
          <a:prstGeom prst="rect">
            <a:avLst/>
          </a:prstGeom>
          <a:solidFill>
            <a:srgbClr val="F1DCC0"/>
          </a:solidFill>
          <a:ln w="12700">
            <a:solidFill>
              <a:srgbClr val="F1DC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82746" y="4069080"/>
            <a:ext cx="2338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2020년 이상  4%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94476" y="4151376"/>
            <a:ext cx="128016" cy="128016"/>
          </a:xfrm>
          <a:prstGeom prst="rect">
            <a:avLst/>
          </a:prstGeom>
          <a:solidFill>
            <a:srgbClr val="C9CCD3"/>
          </a:solidFill>
          <a:ln w="12700">
            <a:solidFill>
              <a:srgbClr val="C9CC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5644" y="4069080"/>
            <a:ext cx="2338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미상  2%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" y="43434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건물 중 1990년대 이전 준공이 67% → 노후 건물이 넓게 분포 → 재건축 요건은 별도 확인 필요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기준일 2026-01-01 ~ 2026-09-20 · 출처 14건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7A7E87"/>
          </a:solidFill>
          <a:ln w="12700">
            <a:solidFill>
              <a:srgbClr val="7A7E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출처와 기준일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463040"/>
          <a:ext cx="10451592" cy="914400"/>
        </p:xfrm>
        <a:graphic>
          <a:graphicData uri="http://schemas.openxmlformats.org/drawingml/2006/table">
            <a:tbl>
              <a:tblPr/>
              <a:tblGrid>
                <a:gridCol w="2612898"/>
                <a:gridCol w="2090318"/>
                <a:gridCol w="5748376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출처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기준일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사용한 타일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rail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2026-09-01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입지·대중교통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bus_stops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2026-08-15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입지·대중교통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school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2026-04-01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학교·통학구역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school_zone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2026-03-01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학교·통학구역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소상공인 상가정보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2026-06-30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생활편의·상가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전국 도시공원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2026-05-31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공원·녹지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gis_bldg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2026-08-01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기존 주거 공급, 준공 연대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kapt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기준일 미확인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기존 주거 공급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청약홈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2026-09-15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분양·입주예정 공급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movein_plan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2026-09-01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분양·입주예정 공급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redevelopment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2026-08-20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분양·입주예정 공급, 정비사업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molit_rtms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2026-09-20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매매 실거래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landuse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2026-07-01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토지·용도지역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land_price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2026-01-01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토지·용도지역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사이트 분석 보고서</dc:title>
  <dc:subject>PptxGenJS Presentation</dc:subject>
  <dc:creator>PptxGenJS</dc:creator>
  <cp:lastModifiedBy>PptxGenJS</cp:lastModifiedBy>
  <cp:revision>1</cp:revision>
  <dcterms:created xsi:type="dcterms:W3CDTF">2026-09-30T04:15:44Z</dcterms:created>
  <dcterms:modified xsi:type="dcterms:W3CDTF">2026-09-30T04:15:44Z</dcterms:modified>
</cp:coreProperties>
</file>